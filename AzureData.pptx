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0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5" r:id="rId3"/>
    <p:sldId id="263" r:id="rId4"/>
    <p:sldId id="264" r:id="rId5"/>
    <p:sldId id="258" r:id="rId6"/>
    <p:sldId id="266" r:id="rId7"/>
    <p:sldId id="272" r:id="rId8"/>
    <p:sldId id="259" r:id="rId9"/>
    <p:sldId id="271" r:id="rId10"/>
    <p:sldId id="267" r:id="rId11"/>
    <p:sldId id="277" r:id="rId12"/>
    <p:sldId id="268" r:id="rId13"/>
    <p:sldId id="275" r:id="rId14"/>
    <p:sldId id="270" r:id="rId15"/>
    <p:sldId id="276" r:id="rId16"/>
    <p:sldId id="273" r:id="rId17"/>
    <p:sldId id="280" r:id="rId18"/>
    <p:sldId id="278" r:id="rId19"/>
    <p:sldId id="279" r:id="rId20"/>
    <p:sldId id="274" r:id="rId21"/>
    <p:sldId id="282" r:id="rId22"/>
    <p:sldId id="281" r:id="rId23"/>
    <p:sldId id="26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651" autoAdjust="0"/>
  </p:normalViewPr>
  <p:slideViewPr>
    <p:cSldViewPr snapToGrid="0">
      <p:cViewPr varScale="1">
        <p:scale>
          <a:sx n="81" d="100"/>
          <a:sy n="81" d="100"/>
        </p:scale>
        <p:origin x="7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192B4-FF1E-4CFD-BC65-3C2304D28C2C}" type="datetimeFigureOut">
              <a:rPr lang="en-US" smtClean="0"/>
              <a:t>4/27/2017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4F9AF-98E6-4723-ABC2-08D293DAB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351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FFED6-41FA-4BD6-9E55-CF4E62388F1C}" type="datetimeFigureOut">
              <a:rPr lang="en-US" smtClean="0"/>
              <a:t>4/27/2017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BF149-9ACC-4A50-97B3-0F0B48AC3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5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NoSQL is hard to define because it covers a</a:t>
            </a:r>
            <a:r>
              <a:rPr lang="en-US" baseline="0" dirty="0"/>
              <a:t> broad range of products – Expect terminology to change in the future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41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Queries (S)</a:t>
            </a:r>
          </a:p>
          <a:p>
            <a:r>
              <a:rPr lang="en-US" dirty="0"/>
              <a:t>Transactions (S)</a:t>
            </a:r>
          </a:p>
          <a:p>
            <a:r>
              <a:rPr lang="en-US" dirty="0"/>
              <a:t>Consistency (S)</a:t>
            </a:r>
          </a:p>
          <a:p>
            <a:r>
              <a:rPr lang="en-US" dirty="0"/>
              <a:t>Scalability (N)</a:t>
            </a:r>
          </a:p>
          <a:p>
            <a:r>
              <a:rPr lang="en-US" dirty="0"/>
              <a:t>Configuration/Management (N)</a:t>
            </a:r>
          </a:p>
          <a:p>
            <a:r>
              <a:rPr lang="en-US" dirty="0"/>
              <a:t>Schema (N)</a:t>
            </a:r>
          </a:p>
          <a:p>
            <a:r>
              <a:rPr lang="en-US" dirty="0"/>
              <a:t>Speed(N)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42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  <a:p>
            <a:r>
              <a:rPr lang="en-US" dirty="0"/>
              <a:t>Scaling up has limits – costs</a:t>
            </a:r>
            <a:r>
              <a:rPr lang="en-US" baseline="0" dirty="0"/>
              <a:t> a lot</a:t>
            </a:r>
            <a:endParaRPr lang="en-US" dirty="0"/>
          </a:p>
          <a:p>
            <a:r>
              <a:rPr lang="en-US" dirty="0" err="1"/>
              <a:t>Sharding</a:t>
            </a:r>
            <a:r>
              <a:rPr lang="en-US" dirty="0"/>
              <a:t> – “Unnatural Acts”</a:t>
            </a:r>
          </a:p>
          <a:p>
            <a:endParaRPr lang="en-US" dirty="0"/>
          </a:p>
          <a:p>
            <a:r>
              <a:rPr lang="en-US" dirty="0" err="1"/>
              <a:t>NoSql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9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Document: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DocumentDb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dirty="0" err="1"/>
              <a:t>MongoDb</a:t>
            </a:r>
            <a:r>
              <a:rPr lang="en-US" dirty="0"/>
              <a:t>/</a:t>
            </a:r>
            <a:r>
              <a:rPr lang="en-US" dirty="0" err="1"/>
              <a:t>CouchDb</a:t>
            </a:r>
            <a:endParaRPr lang="en-US" dirty="0"/>
          </a:p>
          <a:p>
            <a:r>
              <a:rPr lang="en-US" dirty="0" err="1"/>
              <a:t>Json</a:t>
            </a:r>
            <a:r>
              <a:rPr lang="en-US" baseline="0" dirty="0"/>
              <a:t> – Complex hierarchical structures – can pull out parts of document</a:t>
            </a:r>
            <a:endParaRPr lang="en-US" dirty="0"/>
          </a:p>
          <a:p>
            <a:r>
              <a:rPr lang="en-US" dirty="0"/>
              <a:t>------</a:t>
            </a:r>
          </a:p>
          <a:p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KeyValue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Azure Table Storage/</a:t>
            </a:r>
            <a:r>
              <a:rPr lang="en-US" dirty="0" err="1"/>
              <a:t>SimpleDb</a:t>
            </a:r>
            <a:r>
              <a:rPr lang="en-US" dirty="0"/>
              <a:t>/</a:t>
            </a:r>
            <a:r>
              <a:rPr lang="en-US" dirty="0" err="1"/>
              <a:t>DynamoDb</a:t>
            </a:r>
            <a:r>
              <a:rPr lang="en-US" dirty="0"/>
              <a:t>/</a:t>
            </a:r>
            <a:r>
              <a:rPr lang="en-US" dirty="0" err="1"/>
              <a:t>Riak</a:t>
            </a:r>
            <a:endParaRPr lang="en-US" dirty="0"/>
          </a:p>
          <a:p>
            <a:r>
              <a:rPr lang="en-US" dirty="0" err="1"/>
              <a:t>Simpleist</a:t>
            </a:r>
            <a:r>
              <a:rPr lang="en-US" baseline="0" dirty="0"/>
              <a:t> – Glorified Dictionary/</a:t>
            </a:r>
            <a:r>
              <a:rPr lang="en-US" baseline="0" dirty="0" err="1"/>
              <a:t>Hashmap</a:t>
            </a: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/>
              <a:t>Redis</a:t>
            </a:r>
            <a:r>
              <a:rPr lang="en-US" baseline="0" dirty="0"/>
              <a:t> Cache/</a:t>
            </a:r>
            <a:r>
              <a:rPr lang="en-US" baseline="0" dirty="0" err="1"/>
              <a:t>Redis</a:t>
            </a:r>
            <a:r>
              <a:rPr lang="en-US" baseline="0" dirty="0"/>
              <a:t>/</a:t>
            </a:r>
            <a:r>
              <a:rPr lang="en-US" baseline="0" dirty="0" err="1"/>
              <a:t>Memcached</a:t>
            </a:r>
            <a:endParaRPr lang="en-US" baseline="0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ColumnFamily</a:t>
            </a:r>
            <a:r>
              <a:rPr lang="en-US" dirty="0"/>
              <a:t>: Azure </a:t>
            </a:r>
            <a:r>
              <a:rPr lang="en-US" dirty="0" err="1"/>
              <a:t>Hbase</a:t>
            </a:r>
            <a:r>
              <a:rPr lang="en-US" dirty="0"/>
              <a:t>/Apache</a:t>
            </a:r>
            <a:r>
              <a:rPr lang="en-US" baseline="0" dirty="0"/>
              <a:t> </a:t>
            </a:r>
            <a:r>
              <a:rPr lang="en-US" baseline="0" dirty="0" err="1"/>
              <a:t>Hbase</a:t>
            </a:r>
            <a:r>
              <a:rPr lang="en-US" baseline="0" dirty="0"/>
              <a:t>/Cassandra (Apache)/</a:t>
            </a:r>
            <a:r>
              <a:rPr lang="en-US" baseline="0" dirty="0" err="1"/>
              <a:t>BigTable</a:t>
            </a:r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Graph: Neo4J/</a:t>
            </a:r>
            <a:r>
              <a:rPr lang="en-US" baseline="0" dirty="0" err="1"/>
              <a:t>OrientDb</a:t>
            </a:r>
            <a:endParaRPr lang="en-US" baseline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61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object-oriented program is</a:t>
            </a:r>
            <a:r>
              <a:rPr lang="en-US" baseline="0" dirty="0"/>
              <a:t> persisted to a RDBMS (relational database management system) </a:t>
            </a:r>
          </a:p>
          <a:p>
            <a:r>
              <a:rPr lang="en-US" baseline="0" dirty="0"/>
              <a:t>A cohesive set of data in your program gets persisted to several different tables</a:t>
            </a:r>
          </a:p>
          <a:p>
            <a:r>
              <a:rPr lang="en-US" dirty="0"/>
              <a:t>ORMs created</a:t>
            </a:r>
            <a:r>
              <a:rPr lang="en-US" baseline="0" dirty="0"/>
              <a:t> to handle this problem</a:t>
            </a:r>
          </a:p>
          <a:p>
            <a:endParaRPr lang="en-US" baseline="0" dirty="0"/>
          </a:p>
          <a:p>
            <a:r>
              <a:rPr lang="en-US" baseline="0" dirty="0"/>
              <a:t>Order – we think of an order as one thing, but Order/</a:t>
            </a:r>
            <a:r>
              <a:rPr lang="en-US" baseline="0" dirty="0" err="1"/>
              <a:t>LineItem</a:t>
            </a:r>
            <a:r>
              <a:rPr lang="en-US" baseline="0" dirty="0"/>
              <a:t> – when we save it, we need to split it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37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set schema – need structure – Implicit</a:t>
            </a:r>
            <a:r>
              <a:rPr lang="en-US" baseline="0" dirty="0"/>
              <a:t> Schema to get info out and to </a:t>
            </a:r>
            <a:r>
              <a:rPr lang="en-US" baseline="0" dirty="0" err="1"/>
              <a:t>deserialize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6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set schema – need structure – Implicit</a:t>
            </a:r>
            <a:r>
              <a:rPr lang="en-US" baseline="0" dirty="0"/>
              <a:t> Schema to get info out and to </a:t>
            </a:r>
            <a:r>
              <a:rPr lang="en-US" baseline="0" dirty="0" err="1"/>
              <a:t>deserialize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52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complicated</a:t>
            </a:r>
          </a:p>
          <a:p>
            <a:r>
              <a:rPr lang="en-US" dirty="0"/>
              <a:t>Row</a:t>
            </a:r>
            <a:r>
              <a:rPr lang="en-US" baseline="0" dirty="0"/>
              <a:t> key – can store multiple column families – columns that fit together</a:t>
            </a:r>
          </a:p>
          <a:p>
            <a:r>
              <a:rPr lang="en-US" baseline="0" dirty="0"/>
              <a:t>Retrieve by row key and column family name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7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consistency is only guaranteed within a geo region, across geo regions the consistency guarantees are weaker. So the CAP statement theorem is only overcome within a certain geographic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02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Relationships: Data that has a lot of relationships don’t do as well</a:t>
            </a:r>
            <a:r>
              <a:rPr lang="en-US" baseline="0" dirty="0"/>
              <a:t> in relational – Graph can get data with lots of connections faster than lots of joining</a:t>
            </a:r>
          </a:p>
          <a:p>
            <a:r>
              <a:rPr lang="en-US" baseline="0" dirty="0"/>
              <a:t>Scaling needs: FB – Column family database</a:t>
            </a:r>
          </a:p>
          <a:p>
            <a:r>
              <a:rPr lang="en-US" baseline="0" dirty="0"/>
              <a:t>Complexity – </a:t>
            </a:r>
            <a:r>
              <a:rPr lang="en-US" baseline="0" dirty="0" err="1"/>
              <a:t>DocumentDb</a:t>
            </a:r>
            <a:r>
              <a:rPr lang="en-US" baseline="0" dirty="0"/>
              <a:t> with </a:t>
            </a:r>
            <a:r>
              <a:rPr lang="en-US" baseline="0" dirty="0" err="1"/>
              <a:t>json</a:t>
            </a:r>
            <a:r>
              <a:rPr lang="en-US" baseline="0" dirty="0"/>
              <a:t> especially if you are going to serialize to </a:t>
            </a:r>
            <a:r>
              <a:rPr lang="en-US" baseline="0" dirty="0" err="1"/>
              <a:t>json</a:t>
            </a:r>
            <a:r>
              <a:rPr lang="en-US" baseline="0" dirty="0"/>
              <a:t> anyway</a:t>
            </a:r>
          </a:p>
          <a:p>
            <a:endParaRPr lang="en-US" baseline="0" dirty="0"/>
          </a:p>
          <a:p>
            <a:r>
              <a:rPr lang="en-US" dirty="0"/>
              <a:t>ORM has helped a lot – performance is often a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08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CFDB is what happens when you take a database, strip everything away that make it hard to run in on a cluster and see what happens.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Ayende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7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4BF149-9ACC-4A50-97B3-0F0B48AC38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1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44168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2511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36030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5540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47296"/>
      </p:ext>
    </p:extLst>
  </p:cSld>
  <p:clrMapOvr>
    <a:masterClrMapping/>
  </p:clrMapOvr>
  <p:transition spd="slow">
    <p:push dir="u"/>
  </p:transition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0617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2650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245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752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23181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52100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48015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069848" y="2281555"/>
            <a:ext cx="2329305" cy="38036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5"/>
          </p:nvPr>
        </p:nvSpPr>
        <p:spPr>
          <a:xfrm>
            <a:off x="6220130" y="2281555"/>
            <a:ext cx="2329305" cy="38036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6"/>
          </p:nvPr>
        </p:nvSpPr>
        <p:spPr>
          <a:xfrm>
            <a:off x="3644989" y="2281555"/>
            <a:ext cx="2329305" cy="38036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7"/>
          </p:nvPr>
        </p:nvSpPr>
        <p:spPr>
          <a:xfrm>
            <a:off x="8795271" y="2281555"/>
            <a:ext cx="2329305" cy="38036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067829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09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  <p:sldLayoutId id="2147484112" r:id="rId12"/>
    <p:sldLayoutId id="2147484113" r:id="rId1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ougiefever" TargetMode="External"/><Relationship Id="rId3" Type="http://schemas.openxmlformats.org/officeDocument/2006/relationships/hyperlink" Target="https://ayende.com/blog/4500/that-no-sql-thing-column-family-databases" TargetMode="External"/><Relationship Id="rId7" Type="http://schemas.openxmlformats.org/officeDocument/2006/relationships/hyperlink" Target="http://www.bougiefever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nne.bougie@gmail.com" TargetMode="External"/><Relationship Id="rId5" Type="http://schemas.openxmlformats.org/officeDocument/2006/relationships/hyperlink" Target="http://jimwebber.org/2011/02/on-sharding-graph-databases/" TargetMode="External"/><Relationship Id="rId4" Type="http://schemas.openxmlformats.org/officeDocument/2006/relationships/hyperlink" Target="http://a.co/1YwtJ47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Which Azure Storage Option Should I Choose?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560" y="4629566"/>
            <a:ext cx="7766936" cy="13039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Anne Bougie</a:t>
            </a:r>
          </a:p>
          <a:p>
            <a:r>
              <a:rPr lang="en-US" dirty="0"/>
              <a:t>Senior Software Developer, Concurrency Inc.</a:t>
            </a:r>
          </a:p>
          <a:p>
            <a:r>
              <a:rPr lang="en-US" dirty="0"/>
              <a:t>@</a:t>
            </a:r>
            <a:r>
              <a:rPr lang="en-US" dirty="0" err="1"/>
              <a:t>bougiefever</a:t>
            </a:r>
            <a:endParaRPr lang="en-US" dirty="0"/>
          </a:p>
          <a:p>
            <a:r>
              <a:rPr lang="en-US" dirty="0"/>
              <a:t>https://bougiefever.com</a:t>
            </a:r>
          </a:p>
        </p:txBody>
      </p:sp>
    </p:spTree>
    <p:extLst>
      <p:ext uri="{BB962C8B-B14F-4D97-AF65-F5344CB8AC3E}">
        <p14:creationId xmlns:p14="http://schemas.microsoft.com/office/powerpoint/2010/main" val="314839998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Store Data in Azure</a:t>
            </a:r>
            <a:br>
              <a:rPr lang="en-US" dirty="0"/>
            </a:br>
            <a:r>
              <a:rPr lang="en-US" sz="2800" dirty="0"/>
              <a:t>(Non-Inclusive)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4482" y="2529184"/>
            <a:ext cx="6162207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Azure SQL</a:t>
            </a:r>
          </a:p>
          <a:p>
            <a:pPr marL="0" indent="0" algn="ctr">
              <a:buNone/>
            </a:pPr>
            <a:r>
              <a:rPr lang="en-US" sz="2400" dirty="0" err="1"/>
              <a:t>DocumentDb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Table Storage</a:t>
            </a:r>
          </a:p>
          <a:p>
            <a:pPr marL="0" indent="0" algn="ctr">
              <a:buNone/>
            </a:pPr>
            <a:r>
              <a:rPr lang="en-US" sz="2400" dirty="0" err="1"/>
              <a:t>Redis</a:t>
            </a:r>
            <a:r>
              <a:rPr lang="en-US" sz="2400" dirty="0"/>
              <a:t> Cache</a:t>
            </a:r>
          </a:p>
          <a:p>
            <a:pPr marL="0" indent="0" algn="ctr">
              <a:buNone/>
            </a:pPr>
            <a:r>
              <a:rPr lang="en-US" sz="2400" dirty="0" err="1"/>
              <a:t>Hbase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Neo4j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88968" y="2494680"/>
            <a:ext cx="6972483" cy="524540"/>
            <a:chOff x="2688968" y="2494680"/>
            <a:chExt cx="6972483" cy="524540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2688968" y="2494680"/>
              <a:ext cx="5330455" cy="524540"/>
            </a:xfrm>
            <a:prstGeom prst="roundRect">
              <a:avLst/>
            </a:prstGeom>
            <a:solidFill>
              <a:schemeClr val="accent1">
                <a:alpha val="5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00483" y="2494680"/>
              <a:ext cx="13609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</a:rPr>
                <a:t>SQL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688968" y="3071004"/>
            <a:ext cx="6972483" cy="2579298"/>
            <a:chOff x="2688968" y="3071004"/>
            <a:chExt cx="6972483" cy="2579298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2688968" y="3071004"/>
              <a:ext cx="5330454" cy="2579298"/>
            </a:xfrm>
            <a:prstGeom prst="roundRect">
              <a:avLst/>
            </a:prstGeom>
            <a:solidFill>
              <a:schemeClr val="accent3">
                <a:alpha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00483" y="3946350"/>
              <a:ext cx="13609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</a:rPr>
                <a:t>NoSQL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2073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163157" y="2045797"/>
            <a:ext cx="7766936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Sql</a:t>
            </a:r>
            <a:r>
              <a:rPr lang="en-US" dirty="0"/>
              <a:t> vs </a:t>
            </a:r>
            <a:r>
              <a:rPr lang="en-US" dirty="0" err="1"/>
              <a:t>NoSql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vs Excel Spreadsheets</a:t>
            </a:r>
          </a:p>
        </p:txBody>
      </p:sp>
      <p:pic>
        <p:nvPicPr>
          <p:cNvPr id="4" name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56" y="4465017"/>
            <a:ext cx="8862246" cy="225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809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/>
          <p:cNvSpPr/>
          <p:nvPr/>
        </p:nvSpPr>
        <p:spPr>
          <a:xfrm>
            <a:off x="1222124" y="1881898"/>
            <a:ext cx="4118089" cy="46677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747241" y="2049137"/>
            <a:ext cx="187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SQL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118311" y="1881898"/>
            <a:ext cx="4257196" cy="4667758"/>
            <a:chOff x="5368125" y="1697232"/>
            <a:chExt cx="4257196" cy="4927234"/>
          </a:xfrm>
        </p:grpSpPr>
        <p:sp>
          <p:nvSpPr>
            <p:cNvPr id="18" name="Rectangle: Rounded Corners 17"/>
            <p:cNvSpPr/>
            <p:nvPr/>
          </p:nvSpPr>
          <p:spPr>
            <a:xfrm>
              <a:off x="5507232" y="1697232"/>
              <a:ext cx="4118089" cy="4927234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68125" y="1909205"/>
              <a:ext cx="1874849" cy="48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  <a:latin typeface="Arial Rounded MT Bold" panose="020F0704030504030204" pitchFamily="34" charset="0"/>
                </a:rPr>
                <a:t>NoSQL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908277" y="2293374"/>
            <a:ext cx="168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4953" y="3072121"/>
            <a:ext cx="17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5278" y="3927315"/>
            <a:ext cx="267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Supports 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1471" y="4789088"/>
            <a:ext cx="186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8190" y="5479822"/>
            <a:ext cx="265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976" y="2737742"/>
            <a:ext cx="155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Schema-less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6138" y="3554876"/>
            <a:ext cx="329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Limited Transactional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1455" y="4296647"/>
            <a:ext cx="2645151" cy="37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Highly Scalable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082" y="5807332"/>
            <a:ext cx="319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942" y="236526"/>
            <a:ext cx="1465747" cy="16751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18056" y="4959023"/>
            <a:ext cx="2112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Highly Available</a:t>
            </a:r>
          </a:p>
        </p:txBody>
      </p:sp>
    </p:spTree>
    <p:extLst>
      <p:ext uri="{BB962C8B-B14F-4D97-AF65-F5344CB8AC3E}">
        <p14:creationId xmlns:p14="http://schemas.microsoft.com/office/powerpoint/2010/main" val="4290136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503" y="0"/>
            <a:ext cx="2811034" cy="19025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060949" y="96787"/>
            <a:ext cx="1817116" cy="170901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141" y="499068"/>
            <a:ext cx="629602" cy="59829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60510" y="2661917"/>
            <a:ext cx="3020993" cy="3563944"/>
            <a:chOff x="787078" y="2639029"/>
            <a:chExt cx="3020993" cy="3563944"/>
          </a:xfrm>
        </p:grpSpPr>
        <p:sp>
          <p:nvSpPr>
            <p:cNvPr id="2" name="TextBox 1"/>
            <p:cNvSpPr txBox="1"/>
            <p:nvPr/>
          </p:nvSpPr>
          <p:spPr>
            <a:xfrm>
              <a:off x="787078" y="2639029"/>
              <a:ext cx="1759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Querying Data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87078" y="3275213"/>
              <a:ext cx="2291788" cy="381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Transactions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7078" y="3924029"/>
              <a:ext cx="21752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Scalability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87078" y="4560213"/>
              <a:ext cx="2997844" cy="370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Configuration/Management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87078" y="5197455"/>
              <a:ext cx="30209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Schema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7078" y="5833641"/>
              <a:ext cx="2742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Speed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5010820" y="2251068"/>
            <a:ext cx="0" cy="4130361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969507" y="2095500"/>
            <a:ext cx="0" cy="4130361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141" y="499068"/>
            <a:ext cx="629602" cy="5982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141" y="499068"/>
            <a:ext cx="629602" cy="59829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141" y="499068"/>
            <a:ext cx="629602" cy="5982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458" y="497863"/>
            <a:ext cx="629602" cy="59829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458" y="502659"/>
            <a:ext cx="629602" cy="5982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824" y="493067"/>
            <a:ext cx="629602" cy="598298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119880" y="2846583"/>
            <a:ext cx="598932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19880" y="3489083"/>
            <a:ext cx="598932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19880" y="4131583"/>
            <a:ext cx="598932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19880" y="4768296"/>
            <a:ext cx="5989320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117335" y="5405009"/>
            <a:ext cx="5991865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117335" y="6041195"/>
            <a:ext cx="5991865" cy="12101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092" y="507455"/>
            <a:ext cx="629602" cy="598298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092" y="499068"/>
            <a:ext cx="629602" cy="5982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073395" y="1805803"/>
            <a:ext cx="187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2082" y="1682089"/>
            <a:ext cx="187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NoSQL</a:t>
            </a:r>
          </a:p>
        </p:txBody>
      </p:sp>
    </p:spTree>
    <p:extLst>
      <p:ext uri="{BB962C8B-B14F-4D97-AF65-F5344CB8AC3E}">
        <p14:creationId xmlns:p14="http://schemas.microsoft.com/office/powerpoint/2010/main" val="3893950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-0.00139 L -0.0013 -0.00115 C -0.00091 0.0176 -0.00078 0.03681 -0.00026 0.05602 C -1.66667E-6 0.06297 0.00091 0.06482 0.00182 0.07084 C 0.00222 0.07315 0.00235 0.0757 0.00287 0.07824 C 0.00339 0.0801 0.00443 0.08172 0.00495 0.0838 C 0.00612 0.08797 0.00651 0.09422 0.00703 0.09861 C 0.01029 0.1213 0.00534 0.07917 0.00912 0.11343 C 0.01068 0.15255 0.01081 0.1419 0.00912 0.19491 C 0.00899 0.19861 0.00834 0.20209 0.00807 0.20602 C 0.00794 0.20857 0.00703 0.22686 0.00599 0.23195 C 0.0056 0.23403 0.00469 0.23565 0.00391 0.2375 C 0.00326 0.24236 0.00313 0.24676 0.00078 0.25047 C -0.00104 0.25324 -0.00547 0.25787 -0.00547 0.25811 C -0.00612 0.25973 -0.00651 0.26181 -0.00755 0.26343 C -0.00859 0.26482 -0.01562 0.2669 -0.01588 0.26713 C -0.02409 0.26968 -0.02226 0.26875 -0.03255 0.27084 C -0.03568 0.2713 -0.0388 0.27176 -0.04193 0.27269 C -0.04713 0.27408 -0.05221 0.27686 -0.05755 0.27824 L -0.06588 0.2801 C -0.06823 0.28056 -0.0707 0.28125 -0.07318 0.28195 L -0.09193 0.28565 C -0.09987 0.2875 -0.10781 0.29005 -0.11588 0.29121 C -0.12031 0.29167 -0.12487 0.29213 -0.12943 0.29306 C -0.13489 0.29399 -0.14049 0.29584 -0.14609 0.29676 C -0.1582 0.29861 -0.15403 0.29537 -0.1595 0.30047 " pathEditMode="relative" rAng="0" ptsTypes="AAAAAAAAAAAAAAAAAAAAAAAAAA">
                                      <p:cBhvr>
                                        <p:cTn id="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31" y="1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0.00047 L -0.00221 0.0007 C -0.0026 0.02084 -0.00273 0.04121 -0.00325 0.06158 C -0.00338 0.06574 -0.00416 0.07014 -0.0043 0.07454 C -0.00521 0.08982 -0.00573 0.10533 -0.00638 0.12084 C -0.00677 0.14908 -0.0069 0.17755 -0.00742 0.20602 C -0.00755 0.20903 -0.0082 0.21204 -0.00846 0.21528 C -0.00924 0.22385 -0.00937 0.23264 -0.01055 0.24121 L -0.01263 0.25602 C -0.01302 0.25834 -0.01315 0.26088 -0.01367 0.26343 C -0.01666 0.27616 -0.01523 0.26945 -0.01784 0.2838 L -0.01888 0.28935 C -0.01927 0.29121 -0.01966 0.29283 -0.01992 0.29491 C -0.02031 0.29722 -0.02018 0.30023 -0.02096 0.30232 C -0.02174 0.30371 -0.02305 0.30347 -0.02409 0.30417 C -0.02526 0.31019 -0.02526 0.31065 -0.02721 0.31713 C -0.02786 0.31898 -0.02851 0.32107 -0.0293 0.32269 C -0.03021 0.32408 -0.03138 0.325 -0.03242 0.32639 C -0.03281 0.32871 -0.03294 0.33148 -0.03346 0.33357 C -0.03463 0.33773 -0.03685 0.34051 -0.03763 0.34491 C -0.03802 0.34676 -0.03802 0.34908 -0.03867 0.35047 C -0.03945 0.35162 -0.04075 0.35162 -0.0418 0.35232 L -0.04388 0.36343 C -0.04466 0.3669 -0.04518 0.37176 -0.047 0.37454 C -0.04791 0.3757 -0.04909 0.3757 -0.05013 0.37639 C -0.05052 0.37824 -0.05052 0.38056 -0.05117 0.38195 C -0.05195 0.3831 -0.05338 0.38287 -0.0543 0.3838 C -0.05573 0.38472 -0.05703 0.38635 -0.05846 0.3875 C -0.06055 0.38889 -0.06289 0.38889 -0.06471 0.39121 C -0.06575 0.39236 -0.06666 0.39398 -0.06784 0.39491 C -0.07187 0.39746 -0.08581 0.39838 -0.08659 0.39861 C -0.10885 0.39792 -0.13112 0.39838 -0.15325 0.39676 C -0.15456 0.39653 -0.1556 0.39468 -0.15638 0.39306 C -0.15716 0.39144 -0.15742 0.3875 -0.15742 0.38773 " pathEditMode="relative" rAng="0" ptsTypes="AAAAAAAAAAAAAAAAAAAAAAAAAAAAAAAAAA"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60" y="1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324 L -0.00013 -0.00301 C -0.00091 0.00231 -0.00156 0.00787 -0.00221 0.01343 C -0.00416 0.02639 -0.00312 0.00926 -0.00429 0.03194 C -0.00612 0.06319 -0.00481 0.05116 -0.00638 0.08565 C -0.00664 0.08981 -0.00716 0.09421 -0.00742 0.09861 C -0.00781 0.10347 -0.00807 0.10833 -0.00846 0.11343 C -0.00911 0.11829 -0.01002 0.12315 -0.01054 0.12824 C -0.01106 0.1331 -0.01132 0.13796 -0.01158 0.14305 C -0.01354 0.17222 -0.01197 0.14907 -0.01367 0.18935 C -0.01406 0.19537 -0.01445 0.20162 -0.01471 0.20787 C -0.01445 0.23796 -0.01432 0.26805 -0.01367 0.29838 C -0.01367 0.30069 -0.0125 0.31829 -0.01158 0.32268 C -0.01119 0.32523 -0.01015 0.32731 -0.0095 0.33009 C -0.00729 0.34051 -0.01002 0.33588 -0.00638 0.34838 C -0.00572 0.35069 -0.00494 0.35347 -0.00429 0.35602 C -0.0039 0.35764 -0.00403 0.35995 -0.00325 0.36157 C -0.00247 0.36319 -0.00117 0.36389 -0.00013 0.36528 C 0.00144 0.37639 0.00039 0.37014 0.003 0.3838 C 0.00378 0.38819 0.00404 0.3912 0.00612 0.39491 C 0.00691 0.3963 0.00821 0.39722 0.00925 0.39861 C 0.00951 0.40046 0.00951 0.40278 0.01029 0.40417 C 0.01198 0.40718 0.01654 0.41157 0.01654 0.4118 C 0.0168 0.41343 0.0168 0.41551 0.01758 0.41713 C 0.01849 0.41921 0.02383 0.42361 0.02487 0.42454 C 0.02553 0.42639 0.02605 0.42847 0.02696 0.43009 C 0.02917 0.43403 0.0323 0.43704 0.03529 0.43935 C 0.0362 0.44005 0.03737 0.44051 0.03842 0.4412 C 0.03907 0.44305 0.03946 0.44514 0.0405 0.44676 C 0.04128 0.44792 0.04245 0.44792 0.04362 0.44861 C 0.04636 0.44977 0.04909 0.45093 0.05196 0.45231 C 0.05326 0.45278 0.05469 0.45324 0.05612 0.45417 C 0.06928 0.4618 0.04818 0.44884 0.06237 0.45972 C 0.06368 0.46065 0.06511 0.46088 0.06654 0.46157 C 0.07761 0.46597 0.07201 0.46204 0.09154 0.46713 C 0.10951 0.47153 0.10118 0.46991 0.11654 0.47268 C 0.11888 0.47384 0.12123 0.47569 0.12383 0.47639 C 0.12969 0.47778 0.16133 0.47986 0.16342 0.48009 C 0.16446 0.48125 0.16602 0.48171 0.16654 0.4838 C 0.16693 0.48542 0.16628 0.48796 0.1655 0.48935 L 0.16446 0.4875 " pathEditMode="relative" rAng="0" ptsTypes="AAAAAAAAAAAAAAAAAAAAAAAAAAAAAAAAAAAAAAAAA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2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046 L -0.00013 0.00069 C 0.00052 0.00602 0.00117 0.01157 0.00196 0.01713 C 0.00222 0.01898 0.00287 0.0206 0.003 0.02268 C 0.00365 0.10278 0.00339 0.1831 0.00404 0.26342 C 0.00404 0.27268 0.00456 0.28194 0.00508 0.2912 C 0.0056 0.30046 0.00651 0.30949 0.00716 0.31875 C 0.01172 0.39352 0.0056 0.30555 0.00925 0.35393 C 0.00977 0.36111 0.01029 0.37268 0.01133 0.38009 C 0.01146 0.38194 0.01198 0.38356 0.01237 0.38565 C 0.01276 0.38796 0.01276 0.39051 0.01341 0.39305 C 0.01381 0.39491 0.01498 0.39653 0.0155 0.39861 C 0.01628 0.40208 0.0168 0.40602 0.01758 0.40972 C 0.01784 0.41157 0.01823 0.41319 0.01862 0.41528 C 0.01888 0.41759 0.01914 0.42014 0.01966 0.42268 C 0.02019 0.42639 0.02175 0.43379 0.02175 0.43403 C 0.02422 0.46921 0.02175 0.42708 0.02175 0.49491 C 0.02175 0.52338 0.01862 0.51782 0.02591 0.52639 C 0.02657 0.53009 0.02709 0.53472 0.02904 0.5375 C 0.03021 0.53912 0.03177 0.53981 0.03321 0.54097 C 0.03386 0.54282 0.03438 0.54514 0.03529 0.54676 C 0.03815 0.55185 0.03802 0.54907 0.04154 0.55231 C 0.04258 0.55324 0.04349 0.55486 0.04466 0.55602 C 0.04558 0.55671 0.04675 0.55694 0.04779 0.55764 C 0.04883 0.55879 0.04974 0.56065 0.05091 0.56134 C 0.05534 0.56504 0.05703 0.56481 0.06133 0.56713 C 0.06237 0.56759 0.06328 0.56852 0.06446 0.56898 C 0.06849 0.57037 0.07279 0.57106 0.07696 0.57268 C 0.09076 0.57754 0.08373 0.57569 0.09779 0.57801 L 0.16237 0.57454 C 0.16381 0.5743 0.16524 0.57523 0.16654 0.57616 C 0.16706 0.57685 0.16511 0.57616 0.16446 0.57616 " pathEditMode="relative" rAng="0" ptsTypes="AAAAAAAAAAAAAAAAAAAAAAAAAAAAAA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2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00047 L -0.00117 0.0007 C -0.0013 0.00116 -0.00299 0.0301 -0.00325 0.03195 C -0.00364 0.03403 -0.00468 0.03565 -0.00534 0.0375 C -0.00573 0.04167 -0.00612 0.04607 -0.00638 0.05047 C -0.0069 0.05649 -0.00703 0.06274 -0.00742 0.06899 C -0.00768 0.0713 -0.0082 0.07385 -0.00846 0.07639 C -0.00898 0.07986 -0.00924 0.08357 -0.0095 0.0875 C -0.0125 0.12547 -0.01002 0.10556 -0.01367 0.13195 C -0.01406 0.13866 -0.01497 0.15903 -0.01575 0.16713 C -0.01601 0.16899 -0.01653 0.17084 -0.01679 0.17269 C -0.01731 0.175 -0.01771 0.17755 -0.01784 0.1801 C -0.01836 0.18542 -0.01927 0.20209 -0.01992 0.20787 C -0.02057 0.21227 -0.02148 0.21644 -0.022 0.22084 C -0.02252 0.22431 -0.02278 0.22824 -0.02304 0.23195 C -0.02343 0.23611 -0.02356 0.24051 -0.02409 0.24491 C -0.02461 0.24792 -0.02552 0.25093 -0.02617 0.25417 C -0.02695 0.26158 -0.02695 0.26899 -0.02825 0.27639 C -0.02864 0.27824 -0.0289 0.2801 -0.02929 0.28172 C -0.02994 0.28449 -0.03086 0.28658 -0.03138 0.28912 C -0.0319 0.29144 -0.03216 0.29399 -0.03242 0.29676 C -0.03281 0.30232 -0.03307 0.30764 -0.03346 0.31343 C -0.03411 0.32084 -0.03528 0.32778 -0.03554 0.33565 C -0.03802 0.38241 -0.03515 0.32431 -0.03763 0.3875 C -0.03828 0.40278 -0.03906 0.41829 -0.03971 0.4338 C -0.03919 0.46297 -0.04023 0.47431 -0.03763 0.49653 C -0.03737 0.49931 -0.03711 0.50139 -0.03659 0.50417 C -0.03606 0.50787 -0.03528 0.51111 -0.0345 0.51505 C -0.03424 0.51713 -0.03424 0.51945 -0.03346 0.52084 C -0.02799 0.53056 -0.03242 0.52153 -0.02825 0.5338 C -0.01927 0.56065 -0.02825 0.5338 -0.02096 0.55024 C -0.01953 0.55394 -0.01823 0.55787 -0.01679 0.56111 C -0.01614 0.56297 -0.01575 0.56598 -0.01471 0.5669 L -0.00846 0.57454 C -0.00651 0.58542 -0.00911 0.57547 -0.00429 0.58357 C 0.00261 0.59607 -0.00742 0.58264 0.00091 0.59306 C 0.00157 0.59445 0.00209 0.59699 0.003 0.59838 C 0.00756 0.60672 0.00612 0.60116 0.01029 0.60787 C 0.01537 0.61505 0.01276 0.61389 0.01758 0.61899 C 0.01888 0.61991 0.02045 0.62084 0.02175 0.62269 C 0.02292 0.62385 0.02357 0.62662 0.02487 0.62801 C 0.02578 0.6294 0.02696 0.62894 0.028 0.62986 C 0.02904 0.63079 0.02995 0.63264 0.03112 0.63357 C 0.03373 0.63635 0.03659 0.63843 0.03946 0.64121 C 0.04193 0.64329 0.0461 0.64723 0.04883 0.64838 C 0.05117 0.64954 0.05365 0.64954 0.05612 0.65024 C 0.06146 0.65417 0.06172 0.6544 0.06758 0.65787 C 0.06992 0.65903 0.0724 0.66065 0.07487 0.66135 C 0.078 0.66274 0.09115 0.66482 0.09362 0.66505 C 0.09636 0.66574 0.09909 0.66667 0.10196 0.6669 C 0.10534 0.66783 0.10886 0.66806 0.11237 0.66875 L 0.13112 0.67269 C 0.13321 0.67292 0.13529 0.67385 0.13737 0.67454 C 0.14076 0.6757 0.14427 0.67755 0.14779 0.67801 L 0.15716 0.67986 C 0.16315 0.68264 0.16628 0.68496 0.17383 0.67986 C 0.17487 0.6794 0.17344 0.67593 0.17279 0.67454 C 0.17201 0.67269 0.17071 0.67176 0.16966 0.67084 L 0.1655 0.67269 " pathEditMode="relative" rAng="0" ptsTypes="AAA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36" y="3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39 L -0.00221 -0.00139 C -0.00156 0.00394 -0.00117 0.00973 -0.00013 0.01505 C 0.00026 0.01736 0.00196 0.01852 0.00196 0.02061 C 0.00222 0.04167 0.00144 0.06274 0.00092 0.08357 C 0.00078 0.08681 0.00013 0.08982 -0.00013 0.09283 C -0.00065 0.09908 -0.00065 0.10533 -0.00117 0.11135 C -0.00208 0.1213 -0.00325 0.13125 -0.00429 0.14098 C -0.00468 0.14468 -0.00468 0.14861 -0.00533 0.15209 C -0.01015 0.17801 -0.00885 0.16667 -0.01054 0.18542 C -0.01093 0.19352 -0.01106 0.20162 -0.01158 0.20949 C -0.01172 0.21158 -0.01237 0.2132 -0.01263 0.21505 C -0.0138 0.22385 -0.01471 0.23241 -0.01575 0.24098 C -0.01601 0.24352 -0.0164 0.24607 -0.01679 0.24838 C -0.01718 0.25649 -0.01757 0.26459 -0.01783 0.27246 C -0.01914 0.30486 -0.01705 0.2926 -0.01992 0.30764 C -0.02369 0.40764 -0.02174 0.34491 -0.01992 0.55949 C -0.01992 0.56829 -0.01927 0.57686 -0.01888 0.58542 C -0.01823 0.59977 -0.01823 0.60162 -0.01679 0.6132 C -0.01653 0.61574 -0.01627 0.61829 -0.01575 0.62061 C -0.01523 0.62385 -0.01419 0.62662 -0.01367 0.62986 C -0.01289 0.63473 -0.0125 0.63982 -0.01158 0.64468 C -0.00807 0.66343 -0.01341 0.63449 -0.0095 0.65764 C -0.00794 0.6669 -0.00651 0.67199 -0.00533 0.68172 C -0.00481 0.68611 -0.00468 0.69051 -0.00429 0.69468 C -0.00299 0.70834 -0.00377 0.69954 -0.00221 0.70949 C -0.00143 0.71412 -0.00143 0.71922 0.00092 0.72246 C 0.0017 0.72361 0.003 0.72338 0.00404 0.72431 C 0.00508 0.72524 0.00599 0.72709 0.00717 0.72801 C 0.00808 0.72894 0.00925 0.72894 0.01029 0.72986 C 0.01133 0.73079 0.01224 0.73264 0.01342 0.73357 C 0.01472 0.73473 0.01615 0.73473 0.01758 0.73542 C 0.01967 0.73658 0.02175 0.73797 0.02383 0.73912 C 0.02487 0.73982 0.02592 0.74074 0.02696 0.74098 C 0.03034 0.74236 0.03412 0.74236 0.03737 0.74468 C 0.04805 0.75232 0.03659 0.74491 0.053 0.75209 C 0.0543 0.75278 0.05573 0.75348 0.05717 0.75394 C 0.06355 0.75579 0.07683 0.75741 0.08217 0.75764 C 0.09427 0.75857 0.10638 0.75903 0.11862 0.75949 L 0.13308 0.7632 C 0.1349 0.76366 0.13659 0.76459 0.13828 0.76505 C 0.14883 0.76736 0.15769 0.76736 0.16849 0.76875 C 0.16993 0.76899 0.16576 0.76875 0.16433 0.76875 " pathEditMode="relative" ptsTypes="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flipH="1">
            <a:off x="5400964" y="327245"/>
            <a:ext cx="43227" cy="6281374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0423" y="327245"/>
            <a:ext cx="187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+mj-lt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0783" y="351557"/>
            <a:ext cx="187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latin typeface="+mj-lt"/>
              </a:rPr>
              <a:t>NoSQL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963" y="3117272"/>
            <a:ext cx="1254400" cy="192664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53" y="2991844"/>
            <a:ext cx="1254400" cy="19266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" y="1125546"/>
            <a:ext cx="3792855" cy="58254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28" y="3478536"/>
            <a:ext cx="620649" cy="9532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83" y="987001"/>
            <a:ext cx="620649" cy="95326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039" y="987001"/>
            <a:ext cx="620649" cy="95326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619" y="987001"/>
            <a:ext cx="620649" cy="953262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6183992" y="2132244"/>
            <a:ext cx="3623276" cy="953262"/>
            <a:chOff x="5333092" y="2132244"/>
            <a:chExt cx="3623276" cy="953262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9883" y="2132244"/>
              <a:ext cx="620649" cy="953262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1139" y="2132244"/>
              <a:ext cx="620649" cy="95326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5719" y="2132244"/>
              <a:ext cx="620649" cy="953262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3092" y="2132244"/>
              <a:ext cx="620649" cy="953262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6183992" y="3358371"/>
            <a:ext cx="3623276" cy="953262"/>
            <a:chOff x="5333092" y="2132244"/>
            <a:chExt cx="3623276" cy="9532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9883" y="2132244"/>
              <a:ext cx="620649" cy="953262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1139" y="2132244"/>
              <a:ext cx="620649" cy="953262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5719" y="2132244"/>
              <a:ext cx="620649" cy="953262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3092" y="2132244"/>
              <a:ext cx="620649" cy="953262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6183992" y="4584498"/>
            <a:ext cx="3623276" cy="953262"/>
            <a:chOff x="5333092" y="2132244"/>
            <a:chExt cx="3623276" cy="953262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9883" y="2132244"/>
              <a:ext cx="620649" cy="953262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1139" y="2132244"/>
              <a:ext cx="620649" cy="953262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5719" y="2132244"/>
              <a:ext cx="620649" cy="953262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3092" y="2132244"/>
              <a:ext cx="620649" cy="953262"/>
            </a:xfrm>
            <a:prstGeom prst="rect">
              <a:avLst/>
            </a:prstGeom>
          </p:spPr>
        </p:pic>
      </p:grpSp>
      <p:grpSp>
        <p:nvGrpSpPr>
          <p:cNvPr id="37" name="Group 36"/>
          <p:cNvGrpSpPr/>
          <p:nvPr/>
        </p:nvGrpSpPr>
        <p:grpSpPr>
          <a:xfrm>
            <a:off x="6183992" y="5778091"/>
            <a:ext cx="3623276" cy="953262"/>
            <a:chOff x="5333092" y="2132244"/>
            <a:chExt cx="3623276" cy="953262"/>
          </a:xfrm>
        </p:grpSpPr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9883" y="2132244"/>
              <a:ext cx="620649" cy="953262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1139" y="2132244"/>
              <a:ext cx="620649" cy="953262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5719" y="2132244"/>
              <a:ext cx="620649" cy="953262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3092" y="2132244"/>
              <a:ext cx="620649" cy="953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5954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903 L -0.00091 -0.0088 C -0.00065 -0.01319 -0.00026 -0.01713 -0.00026 -0.0213 C -0.00026 -0.02731 -0.00143 -0.03472 -0.00208 -0.04051 C -0.00247 -0.04444 -0.00273 -0.04861 -0.00312 -0.05255 C -0.00429 -0.06181 -0.00521 -0.06759 -0.00651 -0.07593 C -0.00755 -0.09583 -0.00651 -0.07801 -0.00833 -0.09815 C -0.00911 -0.10718 -0.00872 -0.11667 -0.01054 -0.12523 C -0.01341 -0.13912 -0.01224 -0.13264 -0.01393 -0.14444 C -0.01419 -0.14815 -0.01406 -0.15208 -0.01458 -0.15556 C -0.01471 -0.15671 -0.01536 -0.15764 -0.01562 -0.15856 C -0.01614 -0.15995 -0.0164 -0.16134 -0.01679 -0.16273 C -0.02005 -0.20833 -0.01692 -0.17268 -0.01966 -0.19491 C -0.0207 -0.2037 -0.0194 -0.19838 -0.02135 -0.20509 C -0.02187 -0.20995 -0.02396 -0.23032 -0.02526 -0.2375 C -0.02552 -0.23866 -0.02617 -0.23935 -0.02643 -0.24051 C -0.02682 -0.24167 -0.02734 -0.24306 -0.0276 -0.24444 C -0.02786 -0.24583 -0.02786 -0.24722 -0.02812 -0.24861 C -0.02851 -0.25023 -0.0289 -0.25185 -0.02929 -0.2537 C -0.03034 -0.25949 -0.02916 -0.25648 -0.03099 -0.26273 L -0.03437 -0.27477 C -0.03489 -0.27685 -0.03515 -0.27893 -0.03554 -0.28079 C -0.03581 -0.28218 -0.03581 -0.28356 -0.03607 -0.28495 C -0.03672 -0.28773 -0.03802 -0.29005 -0.03841 -0.29306 C -0.03867 -0.2956 -0.03932 -0.3 -0.0401 -0.30208 C -0.04049 -0.30301 -0.04127 -0.30347 -0.04179 -0.30417 C -0.04505 -0.31273 -0.04114 -0.30185 -0.04349 -0.31018 C -0.04401 -0.31204 -0.04466 -0.31343 -0.04518 -0.31528 C -0.04713 -0.32199 -0.04518 -0.31875 -0.04804 -0.32222 C -0.04896 -0.32893 -0.04778 -0.32431 -0.05026 -0.32824 C -0.05156 -0.33032 -0.0526 -0.33241 -0.05377 -0.33449 C -0.05429 -0.33542 -0.05469 -0.33704 -0.05547 -0.3375 L -0.05716 -0.33843 C -0.0638 -0.34792 -0.06054 -0.34514 -0.06627 -0.34861 C -0.06692 -0.34954 -0.06771 -0.35069 -0.06849 -0.35162 C -0.06901 -0.35231 -0.06966 -0.35278 -0.07018 -0.3537 C -0.07304 -0.35787 -0.07057 -0.35579 -0.07357 -0.35764 C -0.07682 -0.36343 -0.07396 -0.3588 -0.07982 -0.36574 C -0.08047 -0.36643 -0.08099 -0.36736 -0.08151 -0.36782 C -0.08307 -0.36898 -0.08463 -0.36968 -0.08607 -0.37083 C -0.08737 -0.37176 -0.08867 -0.37315 -0.0901 -0.37384 C -0.09179 -0.37477 -0.09349 -0.375 -0.09518 -0.37593 C -0.10234 -0.37917 -0.09453 -0.37685 -0.1026 -0.37893 C -0.10833 -0.38218 -0.10612 -0.38009 -0.10937 -0.3838 L -0.1151 -0.38194 C -0.11575 -0.38171 -0.11653 -0.38148 -0.11732 -0.38079 C -0.1181 -0.38032 -0.11888 -0.3794 -0.11966 -0.37893 C -0.12409 -0.37546 -0.11758 -0.38264 -0.12591 -0.37268 C -0.12969 -0.36829 -0.12643 -0.37083 -0.13034 -0.36875 C -0.13099 -0.36852 -0.13203 -0.36782 -0.13203 -0.36759 " pathEditMode="relative" rAng="0" ptsTypes="AAAAAAAAAAAAAAAAAAAAAAAAAAAAAAAAAAAAAAAAAAAAAAAAAA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3" y="-1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008993" y="898634"/>
            <a:ext cx="3956547" cy="2249736"/>
            <a:chOff x="1008993" y="898634"/>
            <a:chExt cx="3956547" cy="2249736"/>
          </a:xfrm>
        </p:grpSpPr>
        <p:sp>
          <p:nvSpPr>
            <p:cNvPr id="24" name="Oval 23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24222" y="1332493"/>
              <a:ext cx="26344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j-lt"/>
                </a:rPr>
                <a:t>Document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853197" y="4532674"/>
            <a:ext cx="4869151" cy="1997486"/>
            <a:chOff x="5853197" y="4532674"/>
            <a:chExt cx="4869151" cy="1997486"/>
          </a:xfrm>
        </p:grpSpPr>
        <p:sp>
          <p:nvSpPr>
            <p:cNvPr id="27" name="Oval 26"/>
            <p:cNvSpPr/>
            <p:nvPr/>
          </p:nvSpPr>
          <p:spPr>
            <a:xfrm>
              <a:off x="5853197" y="4532674"/>
              <a:ext cx="3751594" cy="199748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88301" y="4968751"/>
              <a:ext cx="4734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j-lt"/>
                </a:rPr>
                <a:t>Column Family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07061" y="3549148"/>
            <a:ext cx="3751594" cy="1997486"/>
            <a:chOff x="407061" y="3549148"/>
            <a:chExt cx="3751594" cy="1997486"/>
          </a:xfrm>
        </p:grpSpPr>
        <p:sp>
          <p:nvSpPr>
            <p:cNvPr id="30" name="Oval 29"/>
            <p:cNvSpPr/>
            <p:nvPr/>
          </p:nvSpPr>
          <p:spPr>
            <a:xfrm>
              <a:off x="407061" y="3549148"/>
              <a:ext cx="3751594" cy="199748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16284" y="3854370"/>
              <a:ext cx="16551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j-lt"/>
                </a:rPr>
                <a:t>Graph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853197" y="128410"/>
            <a:ext cx="5730166" cy="4207107"/>
            <a:chOff x="5853197" y="128410"/>
            <a:chExt cx="5730166" cy="4207107"/>
          </a:xfrm>
        </p:grpSpPr>
        <p:sp>
          <p:nvSpPr>
            <p:cNvPr id="33" name="Oval 32"/>
            <p:cNvSpPr/>
            <p:nvPr/>
          </p:nvSpPr>
          <p:spPr>
            <a:xfrm>
              <a:off x="5853197" y="128410"/>
              <a:ext cx="5687161" cy="4207107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6219" y="668397"/>
              <a:ext cx="39571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+mj-lt"/>
                </a:rPr>
                <a:t>Key-Value</a:t>
              </a:r>
            </a:p>
          </p:txBody>
        </p:sp>
      </p:grpSp>
      <p:sp>
        <p:nvSpPr>
          <p:cNvPr id="16" name="Content Placeholder 2"/>
          <p:cNvSpPr txBox="1">
            <a:spLocks/>
          </p:cNvSpPr>
          <p:nvPr/>
        </p:nvSpPr>
        <p:spPr>
          <a:xfrm>
            <a:off x="1381982" y="4670349"/>
            <a:ext cx="1707761" cy="433935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3419" y="2203718"/>
            <a:ext cx="2812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 Rounded MT Bold" panose="020F0704030504030204" pitchFamily="34" charset="0"/>
              </a:rPr>
              <a:t>DocumentDb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12393" y="1655658"/>
            <a:ext cx="4409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Azure Table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2597" y="3165477"/>
            <a:ext cx="3993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Azure </a:t>
            </a:r>
            <a:r>
              <a:rPr lang="en-US" sz="2800" dirty="0" err="1">
                <a:latin typeface="Arial Rounded MT Bold" panose="020F0704030504030204" pitchFamily="34" charset="0"/>
              </a:rPr>
              <a:t>Redis</a:t>
            </a:r>
            <a:r>
              <a:rPr lang="en-US" sz="2800" dirty="0">
                <a:latin typeface="Arial Rounded MT Bold" panose="020F0704030504030204" pitchFamily="34" charset="0"/>
              </a:rPr>
              <a:t>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34" y="5560668"/>
            <a:ext cx="339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Azure </a:t>
            </a:r>
            <a:r>
              <a:rPr lang="en-US" sz="2800" dirty="0" err="1">
                <a:latin typeface="Arial Rounded MT Bold" panose="020F0704030504030204" pitchFamily="34" charset="0"/>
              </a:rPr>
              <a:t>Hbase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235862" y="2836423"/>
            <a:ext cx="6162207" cy="3880773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sz="2800" dirty="0" err="1">
                <a:latin typeface="Arial Rounded MT Bold" panose="020F0704030504030204" pitchFamily="34" charset="0"/>
              </a:rPr>
              <a:t>DocumentDb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 algn="ctr">
              <a:buFont typeface="Wingdings" pitchFamily="2" charset="2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Azure Table Storage</a:t>
            </a:r>
          </a:p>
          <a:p>
            <a:pPr marL="0" indent="0" algn="ctr">
              <a:buFont typeface="Wingdings" pitchFamily="2" charset="2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Azure </a:t>
            </a:r>
            <a:r>
              <a:rPr lang="en-US" sz="2800" dirty="0" err="1">
                <a:latin typeface="Arial Rounded MT Bold" panose="020F0704030504030204" pitchFamily="34" charset="0"/>
              </a:rPr>
              <a:t>Redis</a:t>
            </a:r>
            <a:r>
              <a:rPr lang="en-US" sz="2800" dirty="0">
                <a:latin typeface="Arial Rounded MT Bold" panose="020F0704030504030204" pitchFamily="34" charset="0"/>
              </a:rPr>
              <a:t> Cache</a:t>
            </a:r>
          </a:p>
          <a:p>
            <a:pPr marL="0" indent="0" algn="ctr">
              <a:buFont typeface="Wingdings" pitchFamily="2" charset="2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Azure </a:t>
            </a:r>
            <a:r>
              <a:rPr lang="en-US" sz="2800" dirty="0" err="1">
                <a:latin typeface="Arial Rounded MT Bold" panose="020F0704030504030204" pitchFamily="34" charset="0"/>
              </a:rPr>
              <a:t>Hbase</a:t>
            </a:r>
            <a:endParaRPr lang="en-US" sz="2800" dirty="0">
              <a:latin typeface="Arial Rounded MT Bold" panose="020F0704030504030204" pitchFamily="34" charset="0"/>
            </a:endParaRPr>
          </a:p>
          <a:p>
            <a:pPr marL="0" indent="0" algn="ctr">
              <a:buFont typeface="Wingdings" pitchFamily="2" charset="2"/>
              <a:buNone/>
            </a:pPr>
            <a:r>
              <a:rPr lang="en-US" sz="2800" dirty="0">
                <a:latin typeface="Arial Rounded MT Bold" panose="020F0704030504030204" pitchFamily="34" charset="0"/>
              </a:rPr>
              <a:t>Neo4j</a:t>
            </a:r>
          </a:p>
        </p:txBody>
      </p:sp>
    </p:spTree>
    <p:extLst>
      <p:ext uri="{BB962C8B-B14F-4D97-AF65-F5344CB8AC3E}">
        <p14:creationId xmlns:p14="http://schemas.microsoft.com/office/powerpoint/2010/main" val="1244535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36124" y="1879696"/>
            <a:ext cx="3715474" cy="4224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Impedence</a:t>
            </a:r>
            <a:r>
              <a:rPr lang="en-US" dirty="0"/>
              <a:t> Mismatch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4613" y="1993893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894" y="2578675"/>
            <a:ext cx="2356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Player: </a:t>
            </a:r>
            <a:r>
              <a:rPr lang="en-US" sz="1400" dirty="0">
                <a:latin typeface="Arial Rounded MT Bold" panose="020F0704030504030204" pitchFamily="34" charset="0"/>
              </a:rPr>
              <a:t>Mojo </a:t>
            </a:r>
            <a:r>
              <a:rPr lang="en-US" sz="1400" dirty="0" err="1">
                <a:latin typeface="Arial Rounded MT Bold" panose="020F0704030504030204" pitchFamily="34" charset="0"/>
              </a:rPr>
              <a:t>Jojo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4613" y="3206884"/>
            <a:ext cx="2472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In-App 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93" y="2293775"/>
            <a:ext cx="1824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Order Id: </a:t>
            </a:r>
            <a:r>
              <a:rPr lang="en-US" sz="1400" dirty="0">
                <a:latin typeface="Arial Rounded MT Bold" panose="020F0704030504030204" pitchFamily="34" charset="0"/>
              </a:rPr>
              <a:t>1234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427" y="44726"/>
            <a:ext cx="2218178" cy="17745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188" y="4721373"/>
            <a:ext cx="1932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469" y="5090705"/>
            <a:ext cx="3414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Credit Card: </a:t>
            </a:r>
            <a:r>
              <a:rPr lang="en-US" sz="1400" dirty="0">
                <a:latin typeface="Arial Rounded MT Bold" panose="020F0704030504030204" pitchFamily="34" charset="0"/>
              </a:rPr>
              <a:t>4012888888881881</a:t>
            </a:r>
            <a:endParaRPr 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4469" y="5387188"/>
            <a:ext cx="285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Expiration:</a:t>
            </a:r>
            <a:r>
              <a:rPr lang="en-US" dirty="0"/>
              <a:t> </a:t>
            </a:r>
            <a:r>
              <a:rPr lang="en-US" sz="1400" dirty="0">
                <a:latin typeface="Arial Rounded MT Bold" panose="020F0704030504030204" pitchFamily="34" charset="0"/>
              </a:rPr>
              <a:t>5/2020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3516" y="1993893"/>
            <a:ext cx="3516259" cy="9802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03516" y="3187510"/>
            <a:ext cx="3534387" cy="13124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03516" y="4713330"/>
            <a:ext cx="3534387" cy="11609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356677"/>
              </p:ext>
            </p:extLst>
          </p:nvPr>
        </p:nvGraphicFramePr>
        <p:xfrm>
          <a:off x="832894" y="3594018"/>
          <a:ext cx="3130955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4676">
                  <a:extLst>
                    <a:ext uri="{9D8B030D-6E8A-4147-A177-3AD203B41FA5}">
                      <a16:colId xmlns:a16="http://schemas.microsoft.com/office/drawing/2014/main" val="3936892741"/>
                    </a:ext>
                  </a:extLst>
                </a:gridCol>
                <a:gridCol w="970801">
                  <a:extLst>
                    <a:ext uri="{9D8B030D-6E8A-4147-A177-3AD203B41FA5}">
                      <a16:colId xmlns:a16="http://schemas.microsoft.com/office/drawing/2014/main" val="931285357"/>
                    </a:ext>
                  </a:extLst>
                </a:gridCol>
                <a:gridCol w="782739">
                  <a:extLst>
                    <a:ext uri="{9D8B030D-6E8A-4147-A177-3AD203B41FA5}">
                      <a16:colId xmlns:a16="http://schemas.microsoft.com/office/drawing/2014/main" val="473757402"/>
                    </a:ext>
                  </a:extLst>
                </a:gridCol>
                <a:gridCol w="782739">
                  <a:extLst>
                    <a:ext uri="{9D8B030D-6E8A-4147-A177-3AD203B41FA5}">
                      <a16:colId xmlns:a16="http://schemas.microsoft.com/office/drawing/2014/main" val="1279506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Gems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$5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3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Potions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859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517136" y="156683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7136" y="2735972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Player Assets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7136" y="3968910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Line Items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01061"/>
              </p:ext>
            </p:extLst>
          </p:nvPr>
        </p:nvGraphicFramePr>
        <p:xfrm>
          <a:off x="5517136" y="1875356"/>
          <a:ext cx="597744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94361">
                  <a:extLst>
                    <a:ext uri="{9D8B030D-6E8A-4147-A177-3AD203B41FA5}">
                      <a16:colId xmlns:a16="http://schemas.microsoft.com/office/drawing/2014/main" val="3168378661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2941198336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2206326162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3268978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116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7924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67996"/>
              </p:ext>
            </p:extLst>
          </p:nvPr>
        </p:nvGraphicFramePr>
        <p:xfrm>
          <a:off x="5517136" y="4246631"/>
          <a:ext cx="5977444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94361">
                  <a:extLst>
                    <a:ext uri="{9D8B030D-6E8A-4147-A177-3AD203B41FA5}">
                      <a16:colId xmlns:a16="http://schemas.microsoft.com/office/drawing/2014/main" val="3588953529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2983221631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1199593716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982854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2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0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712524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6893"/>
              </p:ext>
            </p:extLst>
          </p:nvPr>
        </p:nvGraphicFramePr>
        <p:xfrm>
          <a:off x="5517136" y="3033558"/>
          <a:ext cx="597744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94361">
                  <a:extLst>
                    <a:ext uri="{9D8B030D-6E8A-4147-A177-3AD203B41FA5}">
                      <a16:colId xmlns:a16="http://schemas.microsoft.com/office/drawing/2014/main" val="2234609780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762185242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2149643033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1022348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222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06177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135375"/>
              </p:ext>
            </p:extLst>
          </p:nvPr>
        </p:nvGraphicFramePr>
        <p:xfrm>
          <a:off x="5517136" y="5816641"/>
          <a:ext cx="597744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94361">
                  <a:extLst>
                    <a:ext uri="{9D8B030D-6E8A-4147-A177-3AD203B41FA5}">
                      <a16:colId xmlns:a16="http://schemas.microsoft.com/office/drawing/2014/main" val="1099043305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1439352318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706339866"/>
                    </a:ext>
                  </a:extLst>
                </a:gridCol>
                <a:gridCol w="1494361">
                  <a:extLst>
                    <a:ext uri="{9D8B030D-6E8A-4147-A177-3AD203B41FA5}">
                      <a16:colId xmlns:a16="http://schemas.microsoft.com/office/drawing/2014/main" val="627780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60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71718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5517136" y="5538156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Credit Card</a:t>
            </a:r>
          </a:p>
        </p:txBody>
      </p:sp>
      <p:cxnSp>
        <p:nvCxnSpPr>
          <p:cNvPr id="12" name="Connector: Curved 11"/>
          <p:cNvCxnSpPr>
            <a:stCxn id="15" idx="0"/>
            <a:endCxn id="42" idx="0"/>
          </p:cNvCxnSpPr>
          <p:nvPr/>
        </p:nvCxnSpPr>
        <p:spPr>
          <a:xfrm rot="5400000" flipH="1" flipV="1">
            <a:off x="4916340" y="-1295743"/>
            <a:ext cx="418419" cy="6760618"/>
          </a:xfrm>
          <a:prstGeom prst="curvedConnector3">
            <a:avLst>
              <a:gd name="adj1" fmla="val 154634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/>
          <p:cNvCxnSpPr>
            <a:stCxn id="3" idx="0"/>
            <a:endCxn id="44" idx="0"/>
          </p:cNvCxnSpPr>
          <p:nvPr/>
        </p:nvCxnSpPr>
        <p:spPr>
          <a:xfrm rot="16200000" flipH="1">
            <a:off x="5030998" y="-441301"/>
            <a:ext cx="454883" cy="6494835"/>
          </a:xfrm>
          <a:prstGeom prst="curvedConnector3">
            <a:avLst>
              <a:gd name="adj1" fmla="val -50255"/>
            </a:avLst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/>
          <p:cNvCxnSpPr>
            <a:endCxn id="43" idx="0"/>
          </p:cNvCxnSpPr>
          <p:nvPr/>
        </p:nvCxnSpPr>
        <p:spPr>
          <a:xfrm>
            <a:off x="1979271" y="3610872"/>
            <a:ext cx="6526587" cy="635759"/>
          </a:xfrm>
          <a:prstGeom prst="curvedConnector2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/>
          <p:cNvCxnSpPr>
            <a:endCxn id="45" idx="0"/>
          </p:cNvCxnSpPr>
          <p:nvPr/>
        </p:nvCxnSpPr>
        <p:spPr>
          <a:xfrm>
            <a:off x="1671074" y="4856545"/>
            <a:ext cx="6834784" cy="960096"/>
          </a:xfrm>
          <a:prstGeom prst="curvedConnector2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533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/>
      <p:bldP spid="37" grpId="0"/>
      <p:bldP spid="41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0296" y="1335686"/>
            <a:ext cx="3715474" cy="4224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8785" y="1449883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066" y="2034665"/>
            <a:ext cx="2356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Player: </a:t>
            </a:r>
            <a:r>
              <a:rPr lang="en-US" sz="1400" dirty="0">
                <a:latin typeface="Arial Rounded MT Bold" panose="020F0704030504030204" pitchFamily="34" charset="0"/>
              </a:rPr>
              <a:t>Mojo </a:t>
            </a:r>
            <a:r>
              <a:rPr lang="en-US" sz="1400" dirty="0" err="1">
                <a:latin typeface="Arial Rounded MT Bold" panose="020F0704030504030204" pitchFamily="34" charset="0"/>
              </a:rPr>
              <a:t>Jojo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8785" y="2662874"/>
            <a:ext cx="2472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In-App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065" y="1749765"/>
            <a:ext cx="1824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Order Id: </a:t>
            </a:r>
            <a:r>
              <a:rPr lang="en-US" sz="1400" dirty="0">
                <a:latin typeface="Arial Rounded MT Bold" panose="020F0704030504030204" pitchFamily="34" charset="0"/>
              </a:rPr>
              <a:t>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60" y="4177363"/>
            <a:ext cx="1932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Financial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641" y="4546695"/>
            <a:ext cx="3414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Credit Card: </a:t>
            </a:r>
            <a:r>
              <a:rPr lang="en-US" sz="1400" dirty="0">
                <a:latin typeface="Arial Rounded MT Bold" panose="020F0704030504030204" pitchFamily="34" charset="0"/>
              </a:rPr>
              <a:t>4012888888881881</a:t>
            </a:r>
            <a:endParaRPr lang="en-US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8641" y="4843178"/>
            <a:ext cx="285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 Rounded MT Bold" panose="020F0704030504030204" pitchFamily="34" charset="0"/>
              </a:rPr>
              <a:t>Expiration:</a:t>
            </a:r>
            <a:r>
              <a:rPr lang="en-US" dirty="0"/>
              <a:t> </a:t>
            </a:r>
            <a:r>
              <a:rPr lang="en-US" sz="1400" dirty="0">
                <a:latin typeface="Arial Rounded MT Bold" panose="020F0704030504030204" pitchFamily="34" charset="0"/>
              </a:rPr>
              <a:t>5/2020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688" y="1449883"/>
            <a:ext cx="3516259" cy="9802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07688" y="2643500"/>
            <a:ext cx="3534387" cy="13124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7688" y="4169320"/>
            <a:ext cx="3534387" cy="11609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576360"/>
              </p:ext>
            </p:extLst>
          </p:nvPr>
        </p:nvGraphicFramePr>
        <p:xfrm>
          <a:off x="937066" y="3050008"/>
          <a:ext cx="3130955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4676">
                  <a:extLst>
                    <a:ext uri="{9D8B030D-6E8A-4147-A177-3AD203B41FA5}">
                      <a16:colId xmlns:a16="http://schemas.microsoft.com/office/drawing/2014/main" val="3936892741"/>
                    </a:ext>
                  </a:extLst>
                </a:gridCol>
                <a:gridCol w="970801">
                  <a:extLst>
                    <a:ext uri="{9D8B030D-6E8A-4147-A177-3AD203B41FA5}">
                      <a16:colId xmlns:a16="http://schemas.microsoft.com/office/drawing/2014/main" val="931285357"/>
                    </a:ext>
                  </a:extLst>
                </a:gridCol>
                <a:gridCol w="782739">
                  <a:extLst>
                    <a:ext uri="{9D8B030D-6E8A-4147-A177-3AD203B41FA5}">
                      <a16:colId xmlns:a16="http://schemas.microsoft.com/office/drawing/2014/main" val="473757402"/>
                    </a:ext>
                  </a:extLst>
                </a:gridCol>
                <a:gridCol w="782739">
                  <a:extLst>
                    <a:ext uri="{9D8B030D-6E8A-4147-A177-3AD203B41FA5}">
                      <a16:colId xmlns:a16="http://schemas.microsoft.com/office/drawing/2014/main" val="1279506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Gems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 Rounded MT Bold" panose="020F0704030504030204" pitchFamily="34" charset="0"/>
                        </a:rPr>
                        <a:t>$5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3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Potions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Rounded MT Bold" panose="020F0704030504030204" pitchFamily="34" charset="0"/>
                        </a:rPr>
                        <a:t>$10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859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75767" y="1053296"/>
            <a:ext cx="49886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orderId</a:t>
            </a:r>
            <a:r>
              <a:rPr lang="en-US" dirty="0"/>
              <a:t>: 1234,</a:t>
            </a:r>
          </a:p>
          <a:p>
            <a:r>
              <a:rPr lang="en-US" dirty="0"/>
              <a:t>	player: ‘Mojo </a:t>
            </a:r>
            <a:r>
              <a:rPr lang="en-US" dirty="0" err="1"/>
              <a:t>Jojo</a:t>
            </a:r>
            <a:r>
              <a:rPr lang="en-US" dirty="0"/>
              <a:t>’,</a:t>
            </a:r>
          </a:p>
          <a:p>
            <a:r>
              <a:rPr lang="en-US" dirty="0"/>
              <a:t>	</a:t>
            </a:r>
            <a:r>
              <a:rPr lang="en-US" dirty="0" err="1"/>
              <a:t>inAppPurchase</a:t>
            </a:r>
            <a:r>
              <a:rPr lang="en-US" dirty="0"/>
              <a:t> {</a:t>
            </a:r>
          </a:p>
          <a:p>
            <a:r>
              <a:rPr lang="en-US" dirty="0"/>
              <a:t>		date: 1/1/2017,</a:t>
            </a:r>
          </a:p>
          <a:p>
            <a:r>
              <a:rPr lang="en-US" dirty="0"/>
              <a:t>		items: [</a:t>
            </a:r>
          </a:p>
          <a:p>
            <a:pPr lvl="1"/>
            <a:r>
              <a:rPr lang="en-US" dirty="0"/>
              <a:t>		{ </a:t>
            </a:r>
          </a:p>
          <a:p>
            <a:pPr lvl="1"/>
            <a:r>
              <a:rPr lang="en-US" dirty="0"/>
              <a:t>			</a:t>
            </a:r>
            <a:r>
              <a:rPr lang="en-US" dirty="0" err="1"/>
              <a:t>objectType</a:t>
            </a:r>
            <a:r>
              <a:rPr lang="en-US" dirty="0"/>
              <a:t>: ‘Gem’,</a:t>
            </a:r>
          </a:p>
          <a:p>
            <a:pPr lvl="1"/>
            <a:r>
              <a:rPr lang="en-US" dirty="0"/>
              <a:t>		  	quantity: 200,</a:t>
            </a:r>
          </a:p>
          <a:p>
            <a:pPr lvl="1"/>
            <a:r>
              <a:rPr lang="en-US" dirty="0"/>
              <a:t>                 	</a:t>
            </a:r>
            <a:r>
              <a:rPr lang="en-US" dirty="0" err="1"/>
              <a:t>priceEach</a:t>
            </a:r>
            <a:r>
              <a:rPr lang="en-US" dirty="0"/>
              <a:t>: 0.02</a:t>
            </a:r>
          </a:p>
          <a:p>
            <a:pPr lvl="1"/>
            <a:r>
              <a:rPr lang="en-US" dirty="0"/>
              <a:t>               },</a:t>
            </a:r>
          </a:p>
          <a:p>
            <a:pPr lvl="1"/>
            <a:r>
              <a:rPr lang="en-US" dirty="0"/>
              <a:t>               {</a:t>
            </a:r>
          </a:p>
          <a:p>
            <a:pPr lvl="1"/>
            <a:r>
              <a:rPr lang="en-US" dirty="0"/>
              <a:t>			</a:t>
            </a:r>
            <a:r>
              <a:rPr lang="en-US" dirty="0" err="1"/>
              <a:t>objectType</a:t>
            </a:r>
            <a:r>
              <a:rPr lang="en-US" dirty="0"/>
              <a:t>: ‘Potion’,</a:t>
            </a:r>
          </a:p>
          <a:p>
            <a:pPr lvl="1"/>
            <a:r>
              <a:rPr lang="en-US" dirty="0"/>
              <a:t>			quantity: 10,</a:t>
            </a:r>
          </a:p>
          <a:p>
            <a:pPr lvl="1"/>
            <a:r>
              <a:rPr lang="en-US" dirty="0"/>
              <a:t>			</a:t>
            </a:r>
            <a:r>
              <a:rPr lang="en-US" dirty="0" err="1"/>
              <a:t>priceEarch</a:t>
            </a:r>
            <a:r>
              <a:rPr lang="en-US" dirty="0"/>
              <a:t>: 1.00</a:t>
            </a:r>
          </a:p>
          <a:p>
            <a:pPr lvl="1"/>
            <a:r>
              <a:rPr lang="en-US" dirty="0"/>
              <a:t>		}</a:t>
            </a:r>
          </a:p>
          <a:p>
            <a:r>
              <a:rPr lang="en-US" dirty="0"/>
              <a:t>		]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3735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80" name="Oval 7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81" name="Oval 80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5" name="Rectangle 8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92" name="Oval 91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3" name="Oval 92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300" dirty="0">
                <a:blipFill dpi="0" rotWithShape="1">
                  <a:blip r:embed="rId5">
                    <a:extLst/>
                  </a:blip>
                  <a:srcRect/>
                  <a:tile tx="6350" ty="-127000" sx="65000" sy="64000" flip="none" algn="tl"/>
                </a:blipFill>
              </a:rPr>
              <a:t>Key Value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722" y="1650410"/>
            <a:ext cx="3871445" cy="34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4089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73" name="Rectangle 7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80" name="Oval 7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81" name="Oval 80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3" name="Rectangle 8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5" name="Rectangle 8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92" name="Oval 91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3" name="Oval 92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26" name="Picture 2" descr="Image result for document databas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44396" y="1388911"/>
            <a:ext cx="4584620" cy="401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300">
                <a:blipFill dpi="0" rotWithShape="1">
                  <a:blip r:embed="rId5">
                    <a:extLst/>
                  </a:blip>
                  <a:srcRect/>
                  <a:tile tx="6350" ty="-127000" sx="65000" sy="64000" flip="none" algn="tl"/>
                </a:blipFill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61658562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67" name="Oval 6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8" name="Oval 6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0" name="Rectangle 6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2" name="Rectangle 7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633999" y="1238153"/>
            <a:ext cx="5462001" cy="4014570"/>
          </a:xfrm>
          <a:prstGeom prst="rect">
            <a:avLst/>
          </a:prstGeom>
        </p:spPr>
      </p:pic>
      <p:sp>
        <p:nvSpPr>
          <p:cNvPr id="76" name="Rectangle 7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79" name="Oval 78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80" name="Oval 7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3220" y="1054100"/>
            <a:ext cx="4615180" cy="37360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000">
                <a:blipFill dpi="0" rotWithShape="1">
                  <a:blip r:embed="rId5">
                    <a:extLst/>
                  </a:blip>
                  <a:srcRect/>
                  <a:tile tx="6350" ty="-127000" sx="65000" sy="64000" flip="none" algn="tl"/>
                </a:blipFill>
              </a:rPr>
              <a:t>Column Family</a:t>
            </a:r>
          </a:p>
        </p:txBody>
      </p:sp>
    </p:spTree>
    <p:extLst>
      <p:ext uri="{BB962C8B-B14F-4D97-AF65-F5344CB8AC3E}">
        <p14:creationId xmlns:p14="http://schemas.microsoft.com/office/powerpoint/2010/main" val="271605580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33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1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1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6" name="Group 16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8" name="Oval 17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9" name="Oval 18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37" name="Rectangle 2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Rectangle 2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 kern="1200" cap="none" baseline="0" dirty="0">
                <a:blipFill dpi="0" rotWithShape="1">
                  <a:blip r:embed="rId4">
                    <a:extLst/>
                  </a:blip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Graph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9747" y="1008800"/>
            <a:ext cx="4661033" cy="473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6282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454170" y="606021"/>
            <a:ext cx="2743200" cy="2743200"/>
            <a:chOff x="1008993" y="898634"/>
            <a:chExt cx="3956547" cy="2249736"/>
          </a:xfrm>
        </p:grpSpPr>
        <p:sp>
          <p:nvSpPr>
            <p:cNvPr id="4" name="Oval 3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6067" y="1783711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Document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957848" y="3794234"/>
            <a:ext cx="2743200" cy="2743200"/>
            <a:chOff x="1008993" y="898634"/>
            <a:chExt cx="3956547" cy="2249736"/>
          </a:xfrm>
        </p:grpSpPr>
        <p:sp>
          <p:nvSpPr>
            <p:cNvPr id="7" name="Oval 6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6067" y="1783526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Graph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454170" y="3794234"/>
            <a:ext cx="2743200" cy="2743200"/>
            <a:chOff x="1008993" y="898634"/>
            <a:chExt cx="3956547" cy="2249736"/>
          </a:xfrm>
        </p:grpSpPr>
        <p:sp>
          <p:nvSpPr>
            <p:cNvPr id="10" name="Oval 9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6067" y="1581781"/>
              <a:ext cx="3782400" cy="883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Column Family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957848" y="606021"/>
            <a:ext cx="2743200" cy="2743200"/>
            <a:chOff x="1008993" y="898634"/>
            <a:chExt cx="3956547" cy="2249736"/>
          </a:xfrm>
        </p:grpSpPr>
        <p:sp>
          <p:nvSpPr>
            <p:cNvPr id="13" name="Oval 12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adFill flip="none" rotWithShape="1">
              <a:gsLst>
                <a:gs pos="0">
                  <a:schemeClr val="bg2"/>
                </a:gs>
                <a:gs pos="65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6067" y="1783526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Key Value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427894" y="605795"/>
            <a:ext cx="2743200" cy="2743200"/>
            <a:chOff x="1008993" y="898634"/>
            <a:chExt cx="3956547" cy="2249736"/>
          </a:xfrm>
          <a:solidFill>
            <a:schemeClr val="accent1">
              <a:alpha val="60000"/>
            </a:schemeClr>
          </a:solidFill>
        </p:grpSpPr>
        <p:sp>
          <p:nvSpPr>
            <p:cNvPr id="16" name="Oval 15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pFill/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067" y="1783711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Document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994166" y="2422408"/>
            <a:ext cx="2743200" cy="2743200"/>
            <a:chOff x="2509752" y="115340"/>
            <a:chExt cx="3956547" cy="2249736"/>
          </a:xfrm>
          <a:solidFill>
            <a:schemeClr val="accent1">
              <a:alpha val="60000"/>
            </a:schemeClr>
          </a:solidFill>
        </p:grpSpPr>
        <p:sp>
          <p:nvSpPr>
            <p:cNvPr id="19" name="Oval 18"/>
            <p:cNvSpPr/>
            <p:nvPr/>
          </p:nvSpPr>
          <p:spPr>
            <a:xfrm>
              <a:off x="2509752" y="115340"/>
              <a:ext cx="3956547" cy="2249736"/>
            </a:xfrm>
            <a:prstGeom prst="ellipse">
              <a:avLst/>
            </a:prstGeom>
            <a:grpFill/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93128" y="798487"/>
              <a:ext cx="3782399" cy="883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Column Family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68858" y="867865"/>
            <a:ext cx="2743200" cy="2743200"/>
            <a:chOff x="1008993" y="898634"/>
            <a:chExt cx="3956547" cy="2249736"/>
          </a:xfrm>
          <a:solidFill>
            <a:schemeClr val="accent1">
              <a:alpha val="60000"/>
            </a:schemeClr>
          </a:solidFill>
        </p:grpSpPr>
        <p:sp>
          <p:nvSpPr>
            <p:cNvPr id="22" name="Oval 21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pFill/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6067" y="1783526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Key Value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957848" y="3794008"/>
            <a:ext cx="2743200" cy="2743200"/>
            <a:chOff x="1008993" y="898634"/>
            <a:chExt cx="3956547" cy="2249736"/>
          </a:xfrm>
          <a:solidFill>
            <a:schemeClr val="accent1">
              <a:alpha val="61000"/>
            </a:schemeClr>
          </a:solidFill>
        </p:grpSpPr>
        <p:sp>
          <p:nvSpPr>
            <p:cNvPr id="25" name="Oval 24"/>
            <p:cNvSpPr/>
            <p:nvPr/>
          </p:nvSpPr>
          <p:spPr>
            <a:xfrm>
              <a:off x="1008993" y="898634"/>
              <a:ext cx="3956547" cy="2249736"/>
            </a:xfrm>
            <a:prstGeom prst="ellipse">
              <a:avLst/>
            </a:prstGeom>
            <a:grpFill/>
            <a:effectLst/>
            <a:scene3d>
              <a:camera prst="orthographicFront"/>
              <a:lightRig rig="threePt" dir="t"/>
            </a:scene3d>
            <a:sp3d contourW="12700"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96067" y="1783526"/>
              <a:ext cx="3782400" cy="479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+mj-lt"/>
                </a:rPr>
                <a:t>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7457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/>
              <a:t>So How Do I Choose?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9132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Theorem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531118" y="1578260"/>
            <a:ext cx="4659369" cy="4261412"/>
            <a:chOff x="5418881" y="2093976"/>
            <a:chExt cx="4659369" cy="4261412"/>
          </a:xfrm>
        </p:grpSpPr>
        <p:sp>
          <p:nvSpPr>
            <p:cNvPr id="14" name="Oval 13"/>
            <p:cNvSpPr/>
            <p:nvPr/>
          </p:nvSpPr>
          <p:spPr>
            <a:xfrm>
              <a:off x="6376966" y="2093976"/>
              <a:ext cx="2743200" cy="2743200"/>
            </a:xfrm>
            <a:prstGeom prst="ellipse">
              <a:avLst/>
            </a:prstGeom>
            <a:solidFill>
              <a:srgbClr val="00B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418881" y="3612188"/>
              <a:ext cx="2743200" cy="2743200"/>
            </a:xfrm>
            <a:prstGeom prst="ellipse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7335050" y="3612188"/>
              <a:ext cx="2743200" cy="2743200"/>
            </a:xfrm>
            <a:prstGeom prst="ellipse">
              <a:avLst/>
            </a:pr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058137" y="2146461"/>
            <a:ext cx="174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8426" y="4369702"/>
            <a:ext cx="17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Availability</a:t>
            </a: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818886" y="4119477"/>
            <a:ext cx="1772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 Tolerance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6716" y="2506043"/>
            <a:ext cx="108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</a:t>
            </a:r>
          </a:p>
        </p:txBody>
      </p:sp>
      <p:cxnSp>
        <p:nvCxnSpPr>
          <p:cNvPr id="28" name="Straight Arrow Connector 27"/>
          <p:cNvCxnSpPr>
            <a:stCxn id="26" idx="2"/>
          </p:cNvCxnSpPr>
          <p:nvPr/>
        </p:nvCxnSpPr>
        <p:spPr>
          <a:xfrm>
            <a:off x="3660726" y="2875375"/>
            <a:ext cx="1490009" cy="6730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81264" y="2297329"/>
            <a:ext cx="2550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DocumentDb</a:t>
            </a:r>
            <a:endParaRPr lang="en-US" dirty="0"/>
          </a:p>
          <a:p>
            <a:r>
              <a:rPr lang="en-US" dirty="0"/>
              <a:t>Azure Storage</a:t>
            </a:r>
          </a:p>
          <a:p>
            <a:r>
              <a:rPr lang="en-US" dirty="0" err="1"/>
              <a:t>Hbase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9" idx="1"/>
          </p:cNvCxnSpPr>
          <p:nvPr/>
        </p:nvCxnSpPr>
        <p:spPr>
          <a:xfrm flipH="1">
            <a:off x="6602470" y="2758994"/>
            <a:ext cx="2278794" cy="7894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09510" y="5084112"/>
            <a:ext cx="2318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Hbase</a:t>
            </a:r>
            <a:endParaRPr lang="en-US" dirty="0"/>
          </a:p>
          <a:p>
            <a:r>
              <a:rPr lang="en-US" dirty="0"/>
              <a:t>Azure Storage</a:t>
            </a:r>
          </a:p>
          <a:p>
            <a:r>
              <a:rPr lang="en-US" dirty="0" err="1"/>
              <a:t>DocumentDb</a:t>
            </a:r>
            <a:endParaRPr lang="en-US" dirty="0"/>
          </a:p>
          <a:p>
            <a:r>
              <a:rPr lang="en-US" dirty="0"/>
              <a:t>Azure </a:t>
            </a:r>
            <a:r>
              <a:rPr lang="en-US" dirty="0" err="1"/>
              <a:t>Redis</a:t>
            </a:r>
            <a:r>
              <a:rPr lang="en-US" dirty="0"/>
              <a:t> Cache</a:t>
            </a:r>
          </a:p>
          <a:p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5909215" y="4542559"/>
            <a:ext cx="2900295" cy="9675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5909214" y="764693"/>
            <a:ext cx="3437985" cy="3308618"/>
            <a:chOff x="5909214" y="764693"/>
            <a:chExt cx="3437985" cy="3308618"/>
          </a:xfrm>
        </p:grpSpPr>
        <p:cxnSp>
          <p:nvCxnSpPr>
            <p:cNvPr id="41" name="Straight Arrow Connector 40"/>
            <p:cNvCxnSpPr>
              <a:stCxn id="39" idx="2"/>
            </p:cNvCxnSpPr>
            <p:nvPr/>
          </p:nvCxnSpPr>
          <p:spPr>
            <a:xfrm flipH="1">
              <a:off x="5909214" y="1134025"/>
              <a:ext cx="2173829" cy="293928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818886" y="764693"/>
              <a:ext cx="2528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Never </a:t>
              </a:r>
              <a:r>
                <a:rPr lang="en-US" dirty="0" err="1"/>
                <a:t>Gonna</a:t>
              </a:r>
              <a:r>
                <a:rPr lang="en-US" dirty="0"/>
                <a:t> Get It</a:t>
              </a:r>
            </a:p>
          </p:txBody>
        </p:sp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214" y="2081151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032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586" y="788223"/>
            <a:ext cx="7424057" cy="556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1886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/>
          <a:lstStyle/>
          <a:p>
            <a:r>
              <a:rPr lang="en-US" dirty="0"/>
              <a:t>How many relationships</a:t>
            </a:r>
          </a:p>
          <a:p>
            <a:r>
              <a:rPr lang="en-US" dirty="0"/>
              <a:t>How much data</a:t>
            </a:r>
          </a:p>
          <a:p>
            <a:r>
              <a:rPr lang="en-US" dirty="0"/>
              <a:t>Data access performance requirements</a:t>
            </a:r>
          </a:p>
          <a:p>
            <a:r>
              <a:rPr lang="en-US" dirty="0"/>
              <a:t>Entity complexity</a:t>
            </a:r>
          </a:p>
          <a:p>
            <a:r>
              <a:rPr lang="en-US" dirty="0"/>
              <a:t>Programmer skill level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50948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Lots of data</a:t>
            </a:r>
          </a:p>
          <a:p>
            <a:r>
              <a:rPr lang="en-US" dirty="0"/>
              <a:t>Simple data structure</a:t>
            </a:r>
          </a:p>
          <a:p>
            <a:r>
              <a:rPr lang="en-US" dirty="0"/>
              <a:t>Quickly perform small read and write operations</a:t>
            </a:r>
          </a:p>
          <a:p>
            <a:r>
              <a:rPr lang="en-US" dirty="0"/>
              <a:t>Inexpensive, fairly simple</a:t>
            </a:r>
          </a:p>
          <a:p>
            <a:r>
              <a:rPr lang="en-US" dirty="0"/>
              <a:t>Need to add data items willy </a:t>
            </a:r>
            <a:r>
              <a:rPr lang="en-US" dirty="0" err="1"/>
              <a:t>nilly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Lots of data</a:t>
            </a:r>
          </a:p>
          <a:p>
            <a:r>
              <a:rPr lang="en-US" dirty="0"/>
              <a:t>Need high performance</a:t>
            </a:r>
          </a:p>
          <a:p>
            <a:r>
              <a:rPr lang="en-US" dirty="0"/>
              <a:t>More complex data structure</a:t>
            </a:r>
          </a:p>
          <a:p>
            <a:r>
              <a:rPr lang="en-US" dirty="0"/>
              <a:t>Need to add data items willy </a:t>
            </a:r>
            <a:r>
              <a:rPr lang="en-US" dirty="0" err="1"/>
              <a:t>nilly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Lots of data</a:t>
            </a:r>
          </a:p>
          <a:p>
            <a:r>
              <a:rPr lang="en-US" dirty="0"/>
              <a:t>Insanely huge amounts of data</a:t>
            </a:r>
          </a:p>
          <a:p>
            <a:r>
              <a:rPr lang="en-US" dirty="0"/>
              <a:t>Need high performance</a:t>
            </a:r>
          </a:p>
          <a:p>
            <a:r>
              <a:rPr lang="en-US" dirty="0"/>
              <a:t>Need to add data items willy </a:t>
            </a:r>
            <a:r>
              <a:rPr lang="en-US" dirty="0" err="1"/>
              <a:t>nilly</a:t>
            </a:r>
            <a:endParaRPr lang="en-US" dirty="0"/>
          </a:p>
          <a:p>
            <a:r>
              <a:rPr lang="en-US" dirty="0"/>
              <a:t>No joins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Lots of data</a:t>
            </a:r>
          </a:p>
          <a:p>
            <a:r>
              <a:rPr lang="en-US" dirty="0"/>
              <a:t>Lots of connections between entities</a:t>
            </a:r>
          </a:p>
          <a:p>
            <a:r>
              <a:rPr lang="en-US" dirty="0"/>
              <a:t>Quickly changing relationships between entities (change relationships willy </a:t>
            </a:r>
            <a:r>
              <a:rPr lang="en-US" dirty="0" err="1"/>
              <a:t>nilly</a:t>
            </a:r>
            <a:r>
              <a:rPr lang="en-US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895" y="1816924"/>
            <a:ext cx="1733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Key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6214" y="1816924"/>
            <a:ext cx="239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Column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6521" y="1816924"/>
            <a:ext cx="1733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7188" y="1816924"/>
            <a:ext cx="1733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87542296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Only One?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Lots of data</a:t>
            </a:r>
          </a:p>
          <a:p>
            <a:r>
              <a:rPr lang="en-US" dirty="0"/>
              <a:t>Fairly simple data structure</a:t>
            </a:r>
          </a:p>
          <a:p>
            <a:r>
              <a:rPr lang="en-US" dirty="0"/>
              <a:t>Lots of small reads and writes</a:t>
            </a:r>
          </a:p>
          <a:p>
            <a:r>
              <a:rPr lang="en-US" dirty="0"/>
              <a:t>Need high performance</a:t>
            </a:r>
          </a:p>
          <a:p>
            <a:r>
              <a:rPr lang="en-US" dirty="0"/>
              <a:t>Need high availability</a:t>
            </a:r>
          </a:p>
          <a:p>
            <a:r>
              <a:rPr lang="en-US" dirty="0"/>
              <a:t>Need fast searching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 Azure Storage</a:t>
            </a:r>
          </a:p>
          <a:p>
            <a:r>
              <a:rPr lang="en-US" dirty="0"/>
              <a:t>Augment with </a:t>
            </a:r>
            <a:r>
              <a:rPr lang="en-US" dirty="0" err="1"/>
              <a:t>Redis</a:t>
            </a:r>
            <a:r>
              <a:rPr lang="en-US" dirty="0"/>
              <a:t> Cache for searching</a:t>
            </a:r>
          </a:p>
        </p:txBody>
      </p:sp>
    </p:spTree>
    <p:extLst>
      <p:ext uri="{BB962C8B-B14F-4D97-AF65-F5344CB8AC3E}">
        <p14:creationId xmlns:p14="http://schemas.microsoft.com/office/powerpoint/2010/main" val="83516182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Only One?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Really need high consistency</a:t>
            </a:r>
          </a:p>
          <a:p>
            <a:r>
              <a:rPr lang="en-US" dirty="0"/>
              <a:t>Highly structured data</a:t>
            </a:r>
          </a:p>
          <a:p>
            <a:r>
              <a:rPr lang="en-US" dirty="0"/>
              <a:t>Current data is not really large</a:t>
            </a:r>
          </a:p>
          <a:p>
            <a:r>
              <a:rPr lang="en-US" dirty="0"/>
              <a:t>Historical data is huge</a:t>
            </a:r>
          </a:p>
          <a:p>
            <a:r>
              <a:rPr lang="en-US" dirty="0"/>
              <a:t>And we need to report on historical data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 Azure </a:t>
            </a:r>
            <a:r>
              <a:rPr lang="en-US" dirty="0" err="1"/>
              <a:t>Sql</a:t>
            </a:r>
            <a:endParaRPr lang="en-US" dirty="0"/>
          </a:p>
          <a:p>
            <a:r>
              <a:rPr lang="en-US" dirty="0"/>
              <a:t>Archive to </a:t>
            </a:r>
            <a:r>
              <a:rPr lang="en-US" dirty="0" err="1"/>
              <a:t>DocumentDb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99860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Newbie Guide to Databases </a:t>
            </a:r>
            <a:r>
              <a:rPr lang="en-US" dirty="0">
                <a:hlinkClick r:id="rId3"/>
              </a:rPr>
              <a:t>https://blog.appdynamics.com/engineering/a-newbie-guide-to-databases/</a:t>
            </a:r>
          </a:p>
          <a:p>
            <a:r>
              <a:rPr lang="en-US" dirty="0"/>
              <a:t>That NoSQL Thing: Column (Family) Databases </a:t>
            </a:r>
            <a:r>
              <a:rPr lang="en-US" dirty="0">
                <a:hlinkClick r:id="rId3"/>
              </a:rPr>
              <a:t>https://ayende.com/blog/4500/that-no-sql-thing-column-family-databases</a:t>
            </a:r>
            <a:endParaRPr lang="en-US" dirty="0"/>
          </a:p>
          <a:p>
            <a:r>
              <a:rPr lang="en-US" dirty="0"/>
              <a:t>NoSQL Distilled: A Brief Guide to the Emerging World of Polyglot Persistence </a:t>
            </a:r>
            <a:r>
              <a:rPr lang="en-US" dirty="0">
                <a:hlinkClick r:id="rId4"/>
              </a:rPr>
              <a:t>http://a.co/1YwtJ47</a:t>
            </a:r>
            <a:endParaRPr lang="en-US" dirty="0"/>
          </a:p>
          <a:p>
            <a:r>
              <a:rPr lang="en-US" dirty="0"/>
              <a:t>  On </a:t>
            </a:r>
            <a:r>
              <a:rPr lang="en-US" dirty="0" err="1"/>
              <a:t>Sharding</a:t>
            </a:r>
            <a:r>
              <a:rPr lang="en-US" dirty="0"/>
              <a:t> Graph Databases </a:t>
            </a:r>
            <a:r>
              <a:rPr lang="en-US" dirty="0">
                <a:hlinkClick r:id="rId5"/>
              </a:rPr>
              <a:t>http://jimwebber.org/2011/02/on-sharding-graph-databases/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94700" y="165100"/>
            <a:ext cx="40797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 Bougie</a:t>
            </a:r>
          </a:p>
          <a:p>
            <a:r>
              <a:rPr lang="en-US" dirty="0">
                <a:hlinkClick r:id="rId6"/>
              </a:rPr>
              <a:t>anne.bougie@gmail.com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bougiefever</a:t>
            </a:r>
            <a:endParaRPr lang="en-US" dirty="0"/>
          </a:p>
          <a:p>
            <a:r>
              <a:rPr lang="en-US" dirty="0">
                <a:hlinkClick r:id="rId7"/>
              </a:rPr>
              <a:t>http://www.bougiefever.com</a:t>
            </a:r>
            <a:endParaRPr lang="en-US" dirty="0"/>
          </a:p>
          <a:p>
            <a:r>
              <a:rPr lang="en-US" dirty="0">
                <a:hlinkClick r:id="rId8"/>
              </a:rPr>
              <a:t>https://github.com/Bougiefever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91944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910" b="2191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1044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9489</TotalTime>
  <Words>864</Words>
  <Application>Microsoft Office PowerPoint</Application>
  <PresentationFormat>Widescreen</PresentationFormat>
  <Paragraphs>249</Paragraphs>
  <Slides>23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Arial Rounded MT Bold</vt:lpstr>
      <vt:lpstr>Calibri</vt:lpstr>
      <vt:lpstr>Rockwell Extra Bold</vt:lpstr>
      <vt:lpstr>Wingdings</vt:lpstr>
      <vt:lpstr>Wood Type</vt:lpstr>
      <vt:lpstr>Which Azure Storage Option Should I Choose?</vt:lpstr>
      <vt:lpstr>Ways to Store Data in Azure (Non-Inclusive)</vt:lpstr>
      <vt:lpstr>Sql vs NoSql  vs Excel Spreadsheets</vt:lpstr>
      <vt:lpstr>PowerPoint Presentation</vt:lpstr>
      <vt:lpstr>PowerPoint Presentation</vt:lpstr>
      <vt:lpstr>PowerPoint Presentation</vt:lpstr>
      <vt:lpstr>PowerPoint Presentation</vt:lpstr>
      <vt:lpstr>Impedence Mismatch</vt:lpstr>
      <vt:lpstr>PowerPoint Presentation</vt:lpstr>
      <vt:lpstr>Key Value</vt:lpstr>
      <vt:lpstr>Document</vt:lpstr>
      <vt:lpstr>Column Family</vt:lpstr>
      <vt:lpstr>Graph</vt:lpstr>
      <vt:lpstr>PowerPoint Presentation</vt:lpstr>
      <vt:lpstr>So How Do I Choose?</vt:lpstr>
      <vt:lpstr>CAP Theorem</vt:lpstr>
      <vt:lpstr>PowerPoint Presentation</vt:lpstr>
      <vt:lpstr>Issues To Consider</vt:lpstr>
      <vt:lpstr>NoSQL Guidelines</vt:lpstr>
      <vt:lpstr>Why Choose Only One?</vt:lpstr>
      <vt:lpstr>Why Choose Only One?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 Bougie</dc:creator>
  <cp:lastModifiedBy>Anne Bougie</cp:lastModifiedBy>
  <cp:revision>87</cp:revision>
  <dcterms:created xsi:type="dcterms:W3CDTF">2017-04-02T14:08:00Z</dcterms:created>
  <dcterms:modified xsi:type="dcterms:W3CDTF">2017-04-27T15:54:53Z</dcterms:modified>
</cp:coreProperties>
</file>